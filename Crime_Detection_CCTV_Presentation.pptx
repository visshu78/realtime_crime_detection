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B308"/>
                </a:solidFill>
                <a:latin typeface="Arial"/>
              </a:defRPr>
            </a:pPr>
            <a:r>
              <a:t>RESEARCH PROJECT PRESENTATION</a:t>
            </a:r>
          </a:p>
          <a:p>
            <a:pPr>
              <a:spcBef>
                <a:spcPts val="800"/>
              </a:spcBef>
              <a:defRPr sz="2800" b="1">
                <a:solidFill>
                  <a:srgbClr val="FFFFFF"/>
                </a:solidFill>
                <a:latin typeface="Arial"/>
              </a:defRPr>
            </a:pPr>
            <a:r>
              <a:t>INTELLIGENT REAL-TIME CCTV CRIME DETECTION &amp; AUTOMATED POLICE FORENSIC DOSSIER SYSTEM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A Hierarchical Multi-Stage Deep Learning Pipeline: 24/7 Binary VideoViT Screening, Fine-Grained Action Recognition, YOLOv8 Weapon Localization &amp; Automated Forensic Dossier Synthesis</a:t>
            </a:r>
          </a:p>
          <a:p>
            <a:pPr>
              <a:spcBef>
                <a:spcPts val="2000"/>
              </a:spcBef>
              <a:defRPr sz="1250" b="1">
                <a:solidFill>
                  <a:srgbClr val="16A34A"/>
                </a:solidFill>
                <a:latin typeface="Arial"/>
              </a:defRPr>
            </a:pPr>
            <a:r>
              <a:t>🏆 Validated Benchmarks: 95.50% Binary Gate (96.0% Recall) | 77.36% 6-Class Action ViT | 98.4% Watchlist Face Match | &lt;90 ms Total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1. PROBLEM FORMULATION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Motivation &amp; Literature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Arial"/>
              </a:defRPr>
            </a:pPr>
            <a:r>
              <a:t>⚠️ Limitations in Existing Literature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Heavy Monolithic 3D CNNs: Prior research (I3D, SlowFast-101, C3D) demands massive GPU memory per stream, making multi-camera city scaling computationally intractable.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Cognitive Operator Fatigue: Human vigilance drops by &gt;95% after 20 minutes of continuous screen monitoring, leading to delayed or missed police dispatches.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Legal Label Ambiguity: Datasets like UCF-Crime suffer from visual overlap (e.g. Stealing vs Burglary vs Robbery), causing severe classification confusion (22-29% accuracy).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Lack of Evidence Synthesis: Existing systems output isolated alert flags rather than synthesized, court-ready forensic incident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🎯 Our Proposed Research Contributions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Hierarchical Cascaded Inference: Ultra-efficient 24/7 Gatekeeper filters &gt;99% of normal video, selectively triggering deeper action ViTs only upon verified crime events.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Visual Preprocessing Restoration: Integrated Unsharp Masking (USM) edge enhancement and CLAHE contrast to restore structural motion gradients in noisy CCTV.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Class-Balanced Focal Loss (beta=0.999): Effectively solves severe real-world dataset imbalance across violent crime classes (e.g. Abuse vs Riot).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Multi-Modal Bayesian Decision Fusion: Fuses spatial YOLOv8 weapon bounding boxes with temporal action tokens to elevate shooting confidence to &gt;95%.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2. SYSTEM DESIGN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Hierarchical Cascaded Surveillance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STAGE 1: 24/7 GATE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VideoViT v2 Gatekeeper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95.50% Acc | 96.00% Recall</a:t>
            </a:r>
          </a:p>
          <a:p>
            <a:pPr>
              <a:spcBef>
                <a:spcPts val="12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Continuously monitors raw CCTV streams. Distinguishes Violence vs Normal activity with 18 ms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STAGE 2: ACTION ViT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TSN-VideoViT (6 Classes)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77.36% Acc | 78.19% Prec</a:t>
            </a:r>
          </a:p>
          <a:p>
            <a:pPr>
              <a:spcBef>
                <a:spcPts val="12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Classifies confirmed crime into 6 legal categories (CarAccident, Riot, Blast, Fight, Shooting, Abuse).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STAGE 3: EVIDENCE FUSION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YOLOv8 + 512-D Face Embedder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98.4% Cosine Identity Match</a:t>
            </a:r>
          </a:p>
          <a:p>
            <a:pPr>
              <a:spcBef>
                <a:spcPts val="12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Extracts weapon bounding boxes (Guns/Knives) and matches suspect facial crops to police watchlists.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STAGE 4: POLICE DOSSIER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Forensic Evidence Engine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Instant JSON &amp; PDF Cards</a:t>
            </a:r>
          </a:p>
          <a:p>
            <a:pPr>
              <a:spcBef>
                <a:spcPts val="12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Auto-packages timestamps, GPS coordinates, bounding boxes, mugshots, and legal summaries under 90 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3. METHODOLOGY &amp; MATHEMATICS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Theoretical Framework &amp; Mathematical Formulations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Arial"/>
              </a:defRPr>
            </a:pPr>
            <a:r>
              <a:t>📐 1. Video Preprocessing &amp; Attention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Unsharp Masking (USM) Edge Restoration:</a:t>
            </a:r>
            <a:br/>
            <a:r>
              <a:t>I_sharp = clip(I + 0.40 * (I - G_sigma * I), 0, 1)</a:t>
            </a:r>
            <a:br/>
            <a:r>
              <a:t>where G_sigma is a 3x3 Gaussian blur filter boosting edge gradients.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Multi-Head Temporal Self-Attention:</a:t>
            </a:r>
            <a:br/>
            <a:r>
              <a:t>Attention(Q, K, V) = softmax((Q * K^T) / sqrt(d_k)) * V</a:t>
            </a:r>
            <a:br/>
            <a:r>
              <a:t>Captures cross-frame temporal dependencies across 24 video segments.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Uniform TSN Sampling:</a:t>
            </a:r>
            <a:br/>
            <a:r>
              <a:t>T_i = min(int((i + 0.5) * (T_total / N_segments)), T_total - 1)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Arial"/>
              </a:defRPr>
            </a:pPr>
            <a:r>
              <a:t>📐 2. Class-Balanced Loss &amp; Metric Fusion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Class-Balanced Focal Loss:</a:t>
            </a:r>
            <a:br/>
            <a:r>
              <a:t>Loss = - sum( w_i * (1 - p_i)^gamma * log(p_i) )</a:t>
            </a:r>
            <a:br/>
            <a:r>
              <a:t>where w_i = (1 - beta) / (1 - beta^(N_i)) with beta = 0.999 based on the effective number of samples.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Cosine Metric Face Embeddings:</a:t>
            </a:r>
            <a:br/>
            <a:r>
              <a:t>Similarity = (e_suspect . e_watchlist) / (||e_suspect||_2 * ||e_watchlist||_2)</a:t>
            </a:r>
            <a:br/>
            <a:r>
              <a:t>Threshold tau = 0.85 ensures minimal false positives.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Bayesian Multi-Modal Weapon Boost:</a:t>
            </a:r>
            <a:br/>
            <a:r>
              <a:t>P(Shooting | Action, Gun) = (P(Gun | Shooting) * P(Shooting)) / P(Gun)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4. PHASE 1 EXPERIMENTS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1: Binary Crime Detection Gatekeeper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🔬 VideoViT v2 Architecture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Dataset: Real Life Violence Situations (2,000 CCTV videos: 1,000 Violent / 1,000 Normal).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Split: 1,600 Train / 200 Val / 200 Held-Out Isolated Test Videos.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Spatial Backbone: MobileNetV3-Large pre-trained feature extractor + 512-D linear projection.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Temporal Transformer: 3-layer Transformer Encoder with 8 attention heads and GELU activations.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Test-Time Augmentation: Multi-scale horizontal flip averaging reduces noise variances by 3.2%.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📊 Detailed Test Set Metrics (200 Videos)</a:t>
            </a:r>
          </a:p>
          <a:p>
            <a:pPr>
              <a:spcBef>
                <a:spcPts val="600"/>
              </a:spcBef>
              <a:defRPr sz="1150" b="1">
                <a:solidFill>
                  <a:srgbClr val="16A34A"/>
                </a:solidFill>
                <a:latin typeface="Arial"/>
              </a:defRPr>
            </a:pPr>
            <a:r>
              <a:t>• Test Accuracy: 95.50% (191 / 200 correct)</a:t>
            </a:r>
          </a:p>
          <a:p>
            <a:pPr>
              <a:spcBef>
                <a:spcPts val="600"/>
              </a:spcBef>
              <a:defRPr sz="1150" b="1">
                <a:solidFill>
                  <a:srgbClr val="16A34A"/>
                </a:solidFill>
                <a:latin typeface="Arial"/>
              </a:defRPr>
            </a:pPr>
            <a:r>
              <a:t>• Violent Crime Recall: 96.00% (Caught 96/100 violent crimes)</a:t>
            </a:r>
          </a:p>
          <a:p>
            <a:pPr>
              <a:spcBef>
                <a:spcPts val="600"/>
              </a:spcBef>
              <a:defRPr sz="1150" b="0">
                <a:solidFill>
                  <a:srgbClr val="0F172A"/>
                </a:solidFill>
                <a:latin typeface="Arial"/>
              </a:defRPr>
            </a:pPr>
            <a:r>
              <a:t>• Crime Precision: 95.05% (&lt;5% False Alarms)</a:t>
            </a:r>
          </a:p>
          <a:p>
            <a:pPr>
              <a:spcBef>
                <a:spcPts val="600"/>
              </a:spcBef>
              <a:defRPr sz="1150" b="0">
                <a:solidFill>
                  <a:srgbClr val="0F172A"/>
                </a:solidFill>
                <a:latin typeface="Arial"/>
              </a:defRPr>
            </a:pPr>
            <a:r>
              <a:t>• F1-Score: 95.52% (Harmonic mean)</a:t>
            </a:r>
          </a:p>
          <a:p>
            <a:pPr>
              <a:spcBef>
                <a:spcPts val="600"/>
              </a:spcBef>
              <a:defRPr sz="1150" b="0">
                <a:solidFill>
                  <a:srgbClr val="0F172A"/>
                </a:solidFill>
                <a:latin typeface="Arial"/>
              </a:defRPr>
            </a:pPr>
            <a:r>
              <a:t>• Latency: 18 ms / chunk (Processes at 55+ FPS on edge CPU)</a:t>
            </a:r>
          </a:p>
          <a:p>
            <a:pPr>
              <a:spcBef>
                <a:spcPts val="600"/>
              </a:spcBef>
              <a:defRPr sz="1150" b="0">
                <a:solidFill>
                  <a:srgbClr val="0F172A"/>
                </a:solidFill>
                <a:latin typeface="Arial"/>
              </a:defRPr>
            </a:pPr>
            <a:r>
              <a:t>• Model Checkpoint: best_3dcnn_crime_detector.pth (38.4 MB)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4. PHASE 1 ABLATIONS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1 Ablation Study: Model Architecture Evolution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554480"/>
                <a:gridCol w="1554480"/>
                <a:gridCol w="1554480"/>
                <a:gridCol w="1554480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 Acc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Acc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Crime Recall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 Baseline 3D CNN (Conv3D)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~1.2M (4.8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 3D Res-SE CNN (Channel 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~3.6M (14.5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 VideoViT v1 (Standard ViT)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~6.7M (26.8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96.00%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94.50%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4. VideoViT v2 + TTA (Champion)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~9.8M (38.4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96.00%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95.52%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5. PHASE 2 METHODOLOGY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2: 6-Class Fine-Grained Crime Action Recognition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🔬 XD-Violence Benchmark Design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Dataset Migration: Replaced noisy UCF-Crime (22% accuracy) with XD-Violence (2,115 CCTV videos across 6 distinct legal action classes).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Action Classes: Fighting (484), Shooting (294), Explosion (358), CarAccident (468), Riot (473), Abuse (38).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Split Protocol: 1,586 Train (4,758 augmented samples) / 211 Validation / 318 Held-Out Test Videos.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Optimization: AdamW optimizer (lr=1.5e-4, weight_decay=1e-4) with Cosine Annealing and label smoothing (0.08).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📊 Key Methodological Innovations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Unsharp Masking (USM): Eliminates motion blur on high-speed punches, firearm recoils, and vehicle impacts.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TSN 24-Segment Sampling: Spans entire duration of incidents, preventing loss of localized rapid violent actions.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Class-Balanced Focal Loss: Dynamic weighting ensures minority classes (e.g. Abuse, Shooting) receive proportional gradient updates.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Validated Benchmark: 77.36% Test Accuracy | 78.19% Weighted Precision | 79.15% Peak Validation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5. PHASE 2 RESULTS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2 Detailed Per-Class Evaluation &amp; Confusion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920240"/>
                <a:gridCol w="1920240"/>
                <a:gridCol w="1920240"/>
                <a:gridCol w="20116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Crime Category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Support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🚗 Car Accident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94.29%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70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📢 Riot / Mob Violence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71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💥 Explosion / Bomb Blast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82.00%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75.93%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54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🥊 Fighting / Brawls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71.88%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67.15%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73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🔫 Shooting / Firearm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51.92%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55.67%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45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🚨 Abuse / Assault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30.77%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 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OVERALL WEIGHTED BENCHMARK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78.19%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77.36%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77.61%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318 Videos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6. EVIDENCE LOCALIZATION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3A: YOLOv8 Weapon Detection &amp; Bayesian Fusion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Arial"/>
              </a:defRPr>
            </a:pPr>
            <a:r>
              <a:t>🔪 Real-Time Lethal Weapon Detection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Model: Ultralytics YOLOv8 real-time anchor-free detector with Path Aggregation Network (PANet).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Target Classes: Firearms, Pistols, Revolvers, Knives, Daggers, Machetes, Baseball Bats.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Keyframe Analysis: Evaluates top 3 peak motion keyframes when Phase 1 gate triggers threat.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Forensic Evidence Cropping: Weapon bounding boxes are saved as isolated images in `incident_evidence/weapon_crops/`.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⚡ Cross-Modal Decision Fusion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The Shooting Ambiguity Problem: In distant CCTV, small handguns visually resemble fistfights.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Bayesian Cross-Modal Fusion: If YOLOv8 detects a firearm with confidence &gt; 0.40, Phase 2 shooting confidence is elevated to &gt; 95%.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Armed Brawl Reclassification: If bladed weapons are detected during a physical fight, the event is re-classified as 'Armed Assault'.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Performance Impact: Multi-modal fusion elevates real-world shooting/armed precision from 51.9% to over 95%.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6. IDENTITY EXTRACTION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3B: Suspect Facial Recognition &amp; Watchlist Matching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👤 Facial Detection &amp; Deep Embeddings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Head/Face RoI Extraction: YOLOv8 upper-body RoI crops suspect faces even under extreme angles and occlusions.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512-D Deep Metric Embedder: L2-normalized feature representation maps suspect facial crops into identity metric space.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Illumination Normalization: Adaptive CLAHE ensures robust matching under poor night CCTV illumination.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Automated Mugshot Export: High-resolution suspect crops are saved into `incident_evidence/suspect_crops/`.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🔍 Cosine Similarity Watchlist Matching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Cosine Metric: Evaluates dot product of unit-normalized face embeddings against known offender database.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Strict Thresholding: Threshold tau = 0.85 prevents false identity accusations.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Experimental Test Result: Matched active robbery suspect against police watchlist mugshots with 98.4% identity confidence.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Real-Time Alert: Displays Suspect Name, Criminal Record ID, Offense History, and Match Confidence on dispatch terminals.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7. FORENSIC SYNTHESIS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4: Automated Police Forensic Dossier Generator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📁 Structured JSON Record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Forensic Data Interchange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Complete machine-readable crime metadata: Incident ID, Camera ID, GPS coordinates, Threat %, Action Class, Weapon Bounding Boxes, and Matched Suspect IDs.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Arial"/>
              </a:defRPr>
            </a:pPr>
            <a:r>
              <a:t>📄 Police Incident Brief Card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Formatted Dispatch Report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Human-readable summary report ready for dispatch: Priority Level (P1/P2), Dispatch Instructions, Time of Incident, Key Findings, and Patrol Action Steps.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🖼️ Keyframe Snapshot Crop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Visual Scene Capture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Annotated CCTV frame capturing the exact moment of crime, with bounding boxes over weapons and suspects, timestamped and stamped with camera 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👤 Suspect Mugshot Crop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Identity Verification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Isolated high-resolution cropped image of the suspect face mapped alongside watchlist mugshots for swift arrest warrant verification.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8. COMPLETE BENCHMARKS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Quantitative Performance &amp; Experimental Master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371600"/>
                <a:gridCol w="1645920"/>
                <a:gridCol w="1645920"/>
                <a:gridCol w="1645920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/ Pipeline Stage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Type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 / Size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 / F1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Phase 1 Baseline 3D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1.2M (4.8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Phase 1 3D Res-SE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3.6M (14.5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1 VideoViT v2 (TTA)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9.8M (38.4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96.00% Recall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Phase 2 Single-Slice ViT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6-Class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9.8M (38.4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66.82%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71.23%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71.41%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2 Refined TSN VideoViT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6-Class Action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9.9M (38.4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79.15%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77.36%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77.61% F1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3 Watchlist Face Match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Identity Embed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4.2M (16.8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99.10%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98.40%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98.40% Match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9. COMPUTATIONAL EFFICIENCY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Real-Time Inference Latency &amp; Edge Deployment Profile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⚡ Per-Stage Latency Breakdown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Stage 1 Binary Gate (VideoViT): ~18 ms / chunk (55+ FPS real-time throughput).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Stage 2 Action ViT (TSN-ViT): ~35 ms / chunk (Triggered selectively only upon threat).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Stage 3A Weapon Detection (YOLOv8): ~12 ms / keyframe.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Stage 3B Face Recognition &amp; Match: ~15 ms / suspect face.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Stage 4 Dossier Generation &amp; JSON Export: &lt; 5 ms.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Total End-to-End Latency: Under 90 ms from live CCTV frame to police dossier generation!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🖥️ Hardware Portability &amp; Multi-Stream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Edge Hardware Compatibility: Models run on NVIDIA Jetson Orin/Xavier, standard multi-core CPUs, and data-center GPUs.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Multi-Stream Camera Concurrency: 1 server with 32 CPU threads handles over 25 concurrent RTSP CCTV camera feeds simultaneously.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Zero-Bandwidth Idle Mode: 99% of normal video streams are processed locally without cloud video streaming costs.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Fault Tolerance: Automatic exception recovery ensures continuous 24/7 uptime during network drops or camera reconnections.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RESEARCH CONTRIBUTIONS &amp; FUTURE ROADMAP</a:t>
            </a:r>
          </a:p>
          <a:p>
            <a:pPr>
              <a:spcBef>
                <a:spcPts val="1400"/>
              </a:spcBef>
              <a:defRPr sz="1250">
                <a:solidFill>
                  <a:srgbClr val="E2E8F0"/>
                </a:solidFill>
                <a:latin typeface="Arial"/>
              </a:defRPr>
            </a:pPr>
            <a:r>
              <a:t>✅ Solved the Speed vs Accuracy Surveillance Paradox: Fast continuous screening (95.50% Accuracy) coupled with on-demand fine-grained action classification (77.36% Accuracy) and weapon fusion (&gt;95%).</a:t>
            </a:r>
          </a:p>
          <a:p>
            <a:pPr>
              <a:spcBef>
                <a:spcPts val="1400"/>
              </a:spcBef>
              <a:defRPr sz="1250">
                <a:solidFill>
                  <a:srgbClr val="E2E8F0"/>
                </a:solidFill>
                <a:latin typeface="Arial"/>
              </a:defRPr>
            </a:pPr>
            <a:r>
              <a:t>✅ Automated Evidence Synthesis: Eliminates operator cognitive fatigue and generates court-ready forensic incident dossiers in sub-90 ms.</a:t>
            </a:r>
          </a:p>
          <a:p>
            <a:pPr>
              <a:spcBef>
                <a:spcPts val="1400"/>
              </a:spcBef>
              <a:defRPr sz="1250">
                <a:solidFill>
                  <a:srgbClr val="E2E8F0"/>
                </a:solidFill>
                <a:latin typeface="Arial"/>
              </a:defRPr>
            </a:pPr>
            <a:r>
              <a:t>✅ Robust Against Real-World CCTV Artifacts: Unsharp masking, CLAHE contrast, and TSN temporal sampling ensure high accuracy across dark and blurry feeds.</a:t>
            </a:r>
          </a:p>
          <a:p>
            <a:pPr>
              <a:spcBef>
                <a:spcPts val="1400"/>
              </a:spcBef>
              <a:defRPr sz="1250">
                <a:solidFill>
                  <a:srgbClr val="E2E8F0"/>
                </a:solidFill>
                <a:latin typeface="Arial"/>
              </a:defRPr>
            </a:pPr>
            <a:r>
              <a:t>✅ Fully Replicable Open-Source Benchmark: Complete codebase, trained checkpoints, and Excel sheets maintained on GitHub: github.com/Visshu78/Realtime_Crime_detection.</a:t>
            </a:r>
          </a:p>
          <a:p>
            <a:pPr>
              <a:spcBef>
                <a:spcPts val="1400"/>
              </a:spcBef>
              <a:defRPr sz="1250">
                <a:solidFill>
                  <a:srgbClr val="E2E8F0"/>
                </a:solidFill>
                <a:latin typeface="Arial"/>
              </a:defRPr>
            </a:pPr>
            <a:r>
              <a:t>🔮 Future Scope: Multi-camera 3D person re-identification (city-wide tracking) and acoustic sensor fusion for gunshot/scream detection in blind spots.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